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62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83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2DC27B-BCEB-933E-23F3-11202EB8228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65825" y="6703060"/>
            <a:ext cx="27622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651760"/>
            <a:ext cx="5852160" cy="5852160"/>
          </a:xfrm>
          <a:prstGeom prst="ellipse">
            <a:avLst/>
          </a:prstGeom>
          <a:solidFill>
            <a:srgbClr val="B4863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B4863A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8C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TALKS AI · PRODUCT TASK, JULY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8695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35598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92501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9403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06306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63209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0112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77015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33918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90821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47723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04626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61529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18432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335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32238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9141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46043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02946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59849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16752" y="85039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141732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Eval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Product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C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UI   ·   Results Dashboard   ·   Leaderboard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of the e-commerce image evaluation, shown as it actually behaves — not just sketched.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25780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7C2D3B">
              <a:alpha val="45000"/>
            </a:srgbClr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" y="5367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1248" y="5760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971800" y="525780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7C2D3B">
              <a:alpha val="45000"/>
            </a:srgbClr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72968" y="5367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72968" y="5760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03520" y="525780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7C2D3B">
              <a:alpha val="45000"/>
            </a:srgbClr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04688" y="5367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04688" y="5760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earns a real interface, not a spreadsheet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94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953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412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0871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0330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789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9248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8707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166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7625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7085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6544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6003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5462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4921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4380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3839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3298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2757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2216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675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1134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0593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0053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512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8971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8430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7889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348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6807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6266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5725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5184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4643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4102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3561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3020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92480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11939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1398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50857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70316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89775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09234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8693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48152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7611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87070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06529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25988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45448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64907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84366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03825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123284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42743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62202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BF7EF"/>
          </a:solidFill>
          <a:ln w="9525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7C2D3B"/>
          </a:solidFill>
          <a:ln/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1508760" y="181051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Blind, structured comparison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1508760" y="211226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Raters never see model names — only anonymized A/B/C outputs scored on the same 4 axes, mirroring Josh Talks' own Bulbul v3 methodology rather than an ad-hoc survey.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2807208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7C2D3B"/>
          </a:solidFill>
          <a:ln/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1508760" y="292608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rating becomes reusable data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1508760" y="322783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picks write straight into a shared store — the same submissions instantly power both the dashboard and the leaderboard, no manual tallying.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48640" y="3922776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BF7EF"/>
          </a:solidFill>
          <a:ln w="9525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77240" y="4151376"/>
            <a:ext cx="502920" cy="502920"/>
          </a:xfrm>
          <a:prstGeom prst="ellipse">
            <a:avLst/>
          </a:prstGeom>
          <a:solidFill>
            <a:srgbClr val="7C2D3B"/>
          </a:solidFill>
          <a:ln/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7724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1508760" y="404164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continuously, not once</a:t>
            </a:r>
            <a:endParaRPr lang="en-US" sz="1450" dirty="0"/>
          </a:p>
        </p:txBody>
      </p:sp>
      <p:sp>
        <p:nvSpPr>
          <p:cNvPr id="76" name="Text 74"/>
          <p:cNvSpPr/>
          <p:nvPr/>
        </p:nvSpPr>
        <p:spPr>
          <a:xfrm>
            <a:off x="1508760" y="434340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prompts, categories, or models can be added through the same admin panel — this becomes a standing benchmark Josh Talks re-runs every time a new model ships.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3A1620"/>
          </a:solidFill>
          <a:ln/>
          <a:effectLst>
            <a:outerShdw blurRad="101600" dist="38100" dir="5400000" algn="bl" rotWithShape="0">
              <a:srgbClr val="5A1F2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68680" y="5330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MOTIF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68680" y="55778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D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maroon &amp; gold, echoing the zari borders and textile products the eval itself is judging — the tool's identity reinforces exactly what it's built to test: does this look right for an Indian storefront?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UI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participant sees for each of the 7 prompts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537960" cy="5303520"/>
          </a:xfrm>
          <a:prstGeom prst="roundRect">
            <a:avLst>
              <a:gd name="adj" fmla="val 1724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5A1F2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37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53796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545336"/>
            <a:ext cx="100584" cy="100584"/>
          </a:xfrm>
          <a:prstGeom prst="ellipse">
            <a:avLst/>
          </a:prstGeom>
          <a:solidFill>
            <a:srgbClr val="E8A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545336"/>
            <a:ext cx="100584" cy="100584"/>
          </a:xfrm>
          <a:prstGeom prst="ellipse">
            <a:avLst/>
          </a:prstGeom>
          <a:solidFill>
            <a:srgbClr val="F0D4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545336"/>
            <a:ext cx="100584" cy="100584"/>
          </a:xfrm>
          <a:prstGeom prst="ellipse">
            <a:avLst/>
          </a:prstGeom>
          <a:solidFill>
            <a:srgbClr val="A8D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1463040"/>
            <a:ext cx="1074420" cy="274320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1463040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images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1468" y="1463040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1468" y="14630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74136" y="146304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146304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4672" y="1938528"/>
            <a:ext cx="91440" cy="91440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" y="1984248"/>
            <a:ext cx="292608" cy="0"/>
          </a:xfrm>
          <a:prstGeom prst="line">
            <a:avLst/>
          </a:prstGeom>
          <a:noFill/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8720" y="1938528"/>
            <a:ext cx="91440" cy="91440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80160" y="1984248"/>
            <a:ext cx="292608" cy="0"/>
          </a:xfrm>
          <a:prstGeom prst="line">
            <a:avLst/>
          </a:prstGeom>
          <a:noFill/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72768" y="193852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64208" y="1984248"/>
            <a:ext cx="292608" cy="0"/>
          </a:xfrm>
          <a:prstGeom prst="line">
            <a:avLst/>
          </a:prstGeom>
          <a:noFill/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56816" y="1938528"/>
            <a:ext cx="91440" cy="91440"/>
          </a:xfrm>
          <a:prstGeom prst="ellipse">
            <a:avLst/>
          </a:prstGeom>
          <a:solidFill>
            <a:srgbClr val="E3D6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48256" y="1984248"/>
            <a:ext cx="292608" cy="0"/>
          </a:xfrm>
          <a:prstGeom prst="line">
            <a:avLst/>
          </a:prstGeom>
          <a:noFill/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40864" y="1938528"/>
            <a:ext cx="91440" cy="91440"/>
          </a:xfrm>
          <a:prstGeom prst="ellipse">
            <a:avLst/>
          </a:prstGeom>
          <a:solidFill>
            <a:srgbClr val="E3D6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32304" y="1984248"/>
            <a:ext cx="292608" cy="0"/>
          </a:xfrm>
          <a:prstGeom prst="line">
            <a:avLst/>
          </a:prstGeom>
          <a:noFill/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24912" y="1938528"/>
            <a:ext cx="91440" cy="91440"/>
          </a:xfrm>
          <a:prstGeom prst="ellipse">
            <a:avLst/>
          </a:prstGeom>
          <a:solidFill>
            <a:srgbClr val="E3D6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16352" y="1984248"/>
            <a:ext cx="292608" cy="0"/>
          </a:xfrm>
          <a:prstGeom prst="line">
            <a:avLst/>
          </a:prstGeom>
          <a:noFill/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08960" y="1938528"/>
            <a:ext cx="91440" cy="91440"/>
          </a:xfrm>
          <a:prstGeom prst="ellipse">
            <a:avLst/>
          </a:prstGeom>
          <a:solidFill>
            <a:srgbClr val="E3D6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4672" y="2103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OF 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" y="2304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Mustard embroidered kurta set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04672" y="2715768"/>
            <a:ext cx="1847088" cy="306324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3544" y="283464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3544" y="28254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23544" y="3118104"/>
            <a:ext cx="1609344" cy="914400"/>
          </a:xfrm>
          <a:prstGeom prst="rect">
            <a:avLst/>
          </a:prstGeom>
          <a:solidFill>
            <a:srgbClr val="F0E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519001" y="3337560"/>
            <a:ext cx="209215" cy="209215"/>
          </a:xfrm>
          <a:prstGeom prst="ellipse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13226" y="3557016"/>
            <a:ext cx="514990" cy="292608"/>
          </a:xfrm>
          <a:prstGeom prst="triangle">
            <a:avLst/>
          </a:prstGeom>
          <a:solidFill>
            <a:srgbClr val="E3D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599468" y="3465576"/>
            <a:ext cx="643738" cy="384048"/>
          </a:xfrm>
          <a:prstGeom prst="triangle">
            <a:avLst/>
          </a:prstGeom>
          <a:solidFill>
            <a:srgbClr val="DDC8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23544" y="3118104"/>
            <a:ext cx="1609344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67712" y="3191256"/>
            <a:ext cx="182880" cy="182880"/>
          </a:xfrm>
          <a:prstGeom prst="ellipse">
            <a:avLst/>
          </a:prstGeom>
          <a:solidFill>
            <a:srgbClr val="3A162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41832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78992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216152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53312" y="4160520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90472" y="4160520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41832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78992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216152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353312" y="4425696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490472" y="4425696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41832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78992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16152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53312" y="4690872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90472" y="4690872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41832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78992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216152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353312" y="4956048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490472" y="4956048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79776" y="2715768"/>
            <a:ext cx="1847088" cy="306324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898648" y="283464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898648" y="28254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898648" y="3118104"/>
            <a:ext cx="1609344" cy="914400"/>
          </a:xfrm>
          <a:prstGeom prst="rect">
            <a:avLst/>
          </a:prstGeom>
          <a:solidFill>
            <a:srgbClr val="F0E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494105" y="3337560"/>
            <a:ext cx="209215" cy="209215"/>
          </a:xfrm>
          <a:prstGeom prst="ellipse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188330" y="3557016"/>
            <a:ext cx="514990" cy="292608"/>
          </a:xfrm>
          <a:prstGeom prst="triangle">
            <a:avLst/>
          </a:prstGeom>
          <a:solidFill>
            <a:srgbClr val="E3D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574572" y="3465576"/>
            <a:ext cx="643738" cy="384048"/>
          </a:xfrm>
          <a:prstGeom prst="triangle">
            <a:avLst/>
          </a:prstGeom>
          <a:solidFill>
            <a:srgbClr val="DDC8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98648" y="3118104"/>
            <a:ext cx="1609344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242816" y="3191256"/>
            <a:ext cx="182880" cy="182880"/>
          </a:xfrm>
          <a:prstGeom prst="ellipse">
            <a:avLst/>
          </a:prstGeom>
          <a:solidFill>
            <a:srgbClr val="3A162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916936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054096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191256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328416" y="4160520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465576" y="4160520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916936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054096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191256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328416" y="4425696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465576" y="4425696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916936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054096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191256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328416" y="4690872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465576" y="4690872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916936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054096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191256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328416" y="4956048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465576" y="4956048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754880" y="2715768"/>
            <a:ext cx="1847088" cy="306324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4873752" y="283464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873752" y="28254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873752" y="3118104"/>
            <a:ext cx="1609344" cy="914400"/>
          </a:xfrm>
          <a:prstGeom prst="rect">
            <a:avLst/>
          </a:prstGeom>
          <a:solidFill>
            <a:srgbClr val="F0E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469209" y="3337560"/>
            <a:ext cx="209215" cy="209215"/>
          </a:xfrm>
          <a:prstGeom prst="ellipse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163434" y="3557016"/>
            <a:ext cx="514990" cy="292608"/>
          </a:xfrm>
          <a:prstGeom prst="triangle">
            <a:avLst/>
          </a:prstGeom>
          <a:solidFill>
            <a:srgbClr val="E3D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549676" y="3465576"/>
            <a:ext cx="643738" cy="384048"/>
          </a:xfrm>
          <a:prstGeom prst="triangle">
            <a:avLst/>
          </a:prstGeom>
          <a:solidFill>
            <a:srgbClr val="DDC8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873752" y="3118104"/>
            <a:ext cx="1609344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6217920" y="3191256"/>
            <a:ext cx="182880" cy="182880"/>
          </a:xfrm>
          <a:prstGeom prst="ellipse">
            <a:avLst/>
          </a:prstGeom>
          <a:solidFill>
            <a:srgbClr val="3A162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892040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029200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5166360" y="4160520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303520" y="4160520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5440680" y="4160520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4892040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029200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166360" y="4425696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303520" y="4425696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440680" y="4425696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892040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029200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166360" y="4690872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303520" y="4690872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440680" y="4690872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4892040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029200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5166360" y="495604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5303520" y="4956048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440680" y="4956048"/>
            <a:ext cx="91440" cy="91440"/>
          </a:xfrm>
          <a:prstGeom prst="ellipse">
            <a:avLst/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04672" y="5916168"/>
            <a:ext cx="6025896" cy="457200"/>
          </a:xfrm>
          <a:prstGeom prst="roundRect">
            <a:avLst>
              <a:gd name="adj" fmla="val 50000"/>
            </a:avLst>
          </a:prstGeom>
          <a:solidFill>
            <a:srgbClr val="F3EADA"/>
          </a:solidFill>
          <a:ln w="9525">
            <a:solidFill>
              <a:srgbClr val="E8CE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987552" y="5916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post?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3456432" y="59893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2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456432" y="59893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4233672" y="59893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 w="9525">
            <a:solidFill>
              <a:srgbClr val="7C2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4233672" y="59893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5010912" y="59893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2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010912" y="59893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452360" y="154533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7699248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Blind, randomized labels</a:t>
            </a:r>
            <a:endParaRPr lang="en-US" sz="1250" dirty="0"/>
          </a:p>
        </p:txBody>
      </p:sp>
      <p:sp>
        <p:nvSpPr>
          <p:cNvPr id="129" name="Text 127"/>
          <p:cNvSpPr/>
          <p:nvPr/>
        </p:nvSpPr>
        <p:spPr>
          <a:xfrm>
            <a:off x="7699248" y="172821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identity is hidden and re-shuffled per prompt so raters can't learn a pattern.</a:t>
            </a:r>
            <a:endParaRPr lang="en-US" sz="1080" dirty="0"/>
          </a:p>
        </p:txBody>
      </p:sp>
      <p:sp>
        <p:nvSpPr>
          <p:cNvPr id="130" name="Shape 128"/>
          <p:cNvSpPr/>
          <p:nvPr/>
        </p:nvSpPr>
        <p:spPr>
          <a:xfrm>
            <a:off x="7452360" y="2752344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7699248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Four-axis tap scoring</a:t>
            </a:r>
            <a:endParaRPr lang="en-US" sz="1250" dirty="0"/>
          </a:p>
        </p:txBody>
      </p:sp>
      <p:sp>
        <p:nvSpPr>
          <p:cNvPr id="132" name="Text 130"/>
          <p:cNvSpPr/>
          <p:nvPr/>
        </p:nvSpPr>
        <p:spPr>
          <a:xfrm>
            <a:off x="7699248" y="293522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usability, Indian-context fit, and visual quality — dot taps instead of sliders for mobile-first raters.</a:t>
            </a:r>
            <a:endParaRPr lang="en-US" sz="1080" dirty="0"/>
          </a:p>
        </p:txBody>
      </p:sp>
      <p:sp>
        <p:nvSpPr>
          <p:cNvPr id="133" name="Shape 131"/>
          <p:cNvSpPr/>
          <p:nvPr/>
        </p:nvSpPr>
        <p:spPr>
          <a:xfrm>
            <a:off x="7452360" y="3959352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7699248" y="3858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zoom</a:t>
            </a:r>
            <a:endParaRPr lang="en-US" sz="1250" dirty="0"/>
          </a:p>
        </p:txBody>
      </p:sp>
      <p:sp>
        <p:nvSpPr>
          <p:cNvPr id="135" name="Text 133"/>
          <p:cNvSpPr/>
          <p:nvPr/>
        </p:nvSpPr>
        <p:spPr>
          <a:xfrm>
            <a:off x="7699248" y="41422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magnifier on every image opens a full-size, +/- zoomable view to check fine detail before scoring.</a:t>
            </a:r>
            <a:endParaRPr lang="en-US" sz="1080" dirty="0"/>
          </a:p>
        </p:txBody>
      </p:sp>
      <p:sp>
        <p:nvSpPr>
          <p:cNvPr id="136" name="Shape 134"/>
          <p:cNvSpPr/>
          <p:nvPr/>
        </p:nvSpPr>
        <p:spPr>
          <a:xfrm>
            <a:off x="7452360" y="5166360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7699248" y="5065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pick + back navigation</a:t>
            </a:r>
            <a:endParaRPr lang="en-US" sz="1250" dirty="0"/>
          </a:p>
        </p:txBody>
      </p:sp>
      <p:sp>
        <p:nvSpPr>
          <p:cNvPr id="138" name="Text 136"/>
          <p:cNvSpPr/>
          <p:nvPr/>
        </p:nvSpPr>
        <p:spPr>
          <a:xfrm>
            <a:off x="7699248" y="53492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decisive choice per prompt, with a back button that preserves earlier answers if a rater wants to revisit.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team reviews findings, live as ratings come in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5074920"/>
          </a:xfrm>
          <a:prstGeom prst="roundRect">
            <a:avLst>
              <a:gd name="adj" fmla="val 1802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5A1F2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636776"/>
            <a:ext cx="100584" cy="100584"/>
          </a:xfrm>
          <a:prstGeom prst="ellipse">
            <a:avLst/>
          </a:prstGeom>
          <a:solidFill>
            <a:srgbClr val="E8A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636776"/>
            <a:ext cx="100584" cy="100584"/>
          </a:xfrm>
          <a:prstGeom prst="ellipse">
            <a:avLst/>
          </a:prstGeom>
          <a:solidFill>
            <a:srgbClr val="F0D4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636776"/>
            <a:ext cx="100584" cy="100584"/>
          </a:xfrm>
          <a:prstGeom prst="ellipse">
            <a:avLst/>
          </a:prstGeom>
          <a:solidFill>
            <a:srgbClr val="A8D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1554480"/>
            <a:ext cx="1074420" cy="274320"/>
          </a:xfrm>
          <a:prstGeom prst="roundRect">
            <a:avLst>
              <a:gd name="adj" fmla="val 50000"/>
            </a:avLst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1554480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images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1468" y="1554480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1468" y="15544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74136" y="155448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15544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4672" y="2029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participants submitted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39512" y="198424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2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9512" y="198424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⬇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4672" y="2395728"/>
            <a:ext cx="643737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9264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" y="2807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 Image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10712" y="2834640"/>
            <a:ext cx="3657600" cy="109728"/>
          </a:xfrm>
          <a:prstGeom prst="roundRect">
            <a:avLst>
              <a:gd name="adj" fmla="val 50000"/>
            </a:avLst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10712" y="2834640"/>
            <a:ext cx="3145536" cy="109728"/>
          </a:xfrm>
          <a:prstGeom prst="roundRect">
            <a:avLst>
              <a:gd name="adj" fmla="val 50000"/>
            </a:avLst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9264" y="3099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 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10712" y="3127248"/>
            <a:ext cx="3657600" cy="109728"/>
          </a:xfrm>
          <a:prstGeom prst="roundRect">
            <a:avLst>
              <a:gd name="adj" fmla="val 50000"/>
            </a:avLst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10712" y="3127248"/>
            <a:ext cx="2487168" cy="109728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" y="33924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Image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10712" y="3419856"/>
            <a:ext cx="3657600" cy="109728"/>
          </a:xfrm>
          <a:prstGeom prst="roundRect">
            <a:avLst>
              <a:gd name="adj" fmla="val 50000"/>
            </a:avLst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10712" y="3419856"/>
            <a:ext cx="1828800" cy="109728"/>
          </a:xfrm>
          <a:prstGeom prst="roundRect">
            <a:avLst>
              <a:gd name="adj" fmla="val 50000"/>
            </a:avLst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4672" y="3995928"/>
            <a:ext cx="6437376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9264" y="4105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score by axis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78992" y="4672584"/>
            <a:ext cx="201168" cy="1152144"/>
          </a:xfrm>
          <a:prstGeom prst="roundRect">
            <a:avLst>
              <a:gd name="adj" fmla="val 13636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35024" y="4782312"/>
            <a:ext cx="201168" cy="1042416"/>
          </a:xfrm>
          <a:prstGeom prst="roundRect">
            <a:avLst>
              <a:gd name="adj" fmla="val 13636"/>
            </a:avLst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591056" y="4919472"/>
            <a:ext cx="201168" cy="905256"/>
          </a:xfrm>
          <a:prstGeom prst="roundRect">
            <a:avLst>
              <a:gd name="adj" fmla="val 13636"/>
            </a:avLst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1832" y="58704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87752" y="4837176"/>
            <a:ext cx="201168" cy="987552"/>
          </a:xfrm>
          <a:prstGeom prst="roundRect">
            <a:avLst>
              <a:gd name="adj" fmla="val 13636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43784" y="4754880"/>
            <a:ext cx="201168" cy="1069848"/>
          </a:xfrm>
          <a:prstGeom prst="roundRect">
            <a:avLst>
              <a:gd name="adj" fmla="val 13636"/>
            </a:avLst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099816" y="5001768"/>
            <a:ext cx="201168" cy="822960"/>
          </a:xfrm>
          <a:prstGeom prst="roundRect">
            <a:avLst>
              <a:gd name="adj" fmla="val 13636"/>
            </a:avLst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50592" y="58704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96512" y="4617720"/>
            <a:ext cx="201168" cy="1207008"/>
          </a:xfrm>
          <a:prstGeom prst="roundRect">
            <a:avLst>
              <a:gd name="adj" fmla="val 13636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52544" y="4864608"/>
            <a:ext cx="201168" cy="960120"/>
          </a:xfrm>
          <a:prstGeom prst="roundRect">
            <a:avLst>
              <a:gd name="adj" fmla="val 13636"/>
            </a:avLst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08576" y="4837176"/>
            <a:ext cx="201168" cy="987552"/>
          </a:xfrm>
          <a:prstGeom prst="roundRect">
            <a:avLst>
              <a:gd name="adj" fmla="val 13636"/>
            </a:avLst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959352" y="58704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05272" y="4754880"/>
            <a:ext cx="201168" cy="1069848"/>
          </a:xfrm>
          <a:prstGeom prst="roundRect">
            <a:avLst>
              <a:gd name="adj" fmla="val 13636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61304" y="4727448"/>
            <a:ext cx="201168" cy="1097280"/>
          </a:xfrm>
          <a:prstGeom prst="roundRect">
            <a:avLst>
              <a:gd name="adj" fmla="val 13636"/>
            </a:avLst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17336" y="4946904"/>
            <a:ext cx="201168" cy="877824"/>
          </a:xfrm>
          <a:prstGeom prst="roundRect">
            <a:avLst>
              <a:gd name="adj" fmla="val 13636"/>
            </a:avLst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68112" y="58704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78992" y="6144768"/>
            <a:ext cx="91440" cy="91440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225296" y="6053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33472" y="6144768"/>
            <a:ext cx="91440" cy="91440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79776" y="6053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 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187952" y="6144768"/>
            <a:ext cx="91440" cy="91440"/>
          </a:xfrm>
          <a:prstGeom prst="ellipse">
            <a:avLst/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334256" y="6053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818120" y="172821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065008" y="1627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not static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065008" y="19110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automatically as each participant submits — no manual recalculation between runs.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7818120" y="300837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065008" y="29077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bar-chart engine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8065008" y="319125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plain HTML/CSS, not an external chart library — nothing to fail to load, renders identically everywhere.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7818120" y="428853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065008" y="41879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065008" y="447141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score, per model, per prompt, per rater — ready to drop into the supporting-material folder.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at a glance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5074920"/>
          </a:xfrm>
          <a:prstGeom prst="roundRect">
            <a:avLst>
              <a:gd name="adj" fmla="val 1802"/>
            </a:avLst>
          </a:prstGeom>
          <a:solidFill>
            <a:srgbClr val="FBF7EF"/>
          </a:solidFill>
          <a:ln/>
          <a:effectLst>
            <a:outerShdw blurRad="101600" dist="38100" dir="5400000" algn="bl" rotWithShape="0">
              <a:srgbClr val="5A1F2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636776"/>
            <a:ext cx="100584" cy="100584"/>
          </a:xfrm>
          <a:prstGeom prst="ellipse">
            <a:avLst/>
          </a:prstGeom>
          <a:solidFill>
            <a:srgbClr val="E8A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636776"/>
            <a:ext cx="100584" cy="100584"/>
          </a:xfrm>
          <a:prstGeom prst="ellipse">
            <a:avLst/>
          </a:prstGeom>
          <a:solidFill>
            <a:srgbClr val="F0D4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1636776"/>
            <a:ext cx="100584" cy="100584"/>
          </a:xfrm>
          <a:prstGeom prst="ellipse">
            <a:avLst/>
          </a:prstGeom>
          <a:solidFill>
            <a:srgbClr val="A8D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1554480"/>
            <a:ext cx="1074420" cy="274320"/>
          </a:xfrm>
          <a:prstGeom prst="roundRect">
            <a:avLst>
              <a:gd name="adj" fmla="val 50000"/>
            </a:avLst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1554480"/>
            <a:ext cx="1074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images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1468" y="1554480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1468" y="15544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74136" y="1554480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15544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4672" y="2167128"/>
            <a:ext cx="64373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2459736"/>
            <a:ext cx="475488" cy="475488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73352" y="2295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 Image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673352" y="264261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73352" y="26426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19472" y="2578608"/>
            <a:ext cx="1920240" cy="146304"/>
          </a:xfrm>
          <a:prstGeom prst="roundRect">
            <a:avLst>
              <a:gd name="adj" fmla="val 50000"/>
            </a:avLst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19472" y="2578608"/>
            <a:ext cx="1651406" cy="146304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22951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2788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win rate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" y="3374136"/>
            <a:ext cx="64373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5840" y="3666744"/>
            <a:ext cx="475488" cy="475488"/>
          </a:xfrm>
          <a:prstGeom prst="ellipse">
            <a:avLst/>
          </a:prstGeom>
          <a:solidFill>
            <a:srgbClr val="B9B9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" y="3666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673352" y="3502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Image 1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919472" y="3785616"/>
            <a:ext cx="1920240" cy="146304"/>
          </a:xfrm>
          <a:prstGeom prst="roundRect">
            <a:avLst>
              <a:gd name="adj" fmla="val 50000"/>
            </a:avLst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3785616"/>
            <a:ext cx="1497787" cy="146304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3.9/5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36792" y="3995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win rate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" y="4581144"/>
            <a:ext cx="64373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4D9C8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05840" y="4873752"/>
            <a:ext cx="475488" cy="475488"/>
          </a:xfrm>
          <a:prstGeom prst="ellipse">
            <a:avLst/>
          </a:prstGeom>
          <a:solidFill>
            <a:srgbClr val="C99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5840" y="4873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673352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Image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919472" y="4992624"/>
            <a:ext cx="1920240" cy="146304"/>
          </a:xfrm>
          <a:prstGeom prst="roundRect">
            <a:avLst>
              <a:gd name="adj" fmla="val 50000"/>
            </a:avLst>
          </a:prstGeom>
          <a:solidFill>
            <a:srgbClr val="EAD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19472" y="4992624"/>
            <a:ext cx="1305763" cy="146304"/>
          </a:xfrm>
          <a:prstGeom prst="roundRect">
            <a:avLst>
              <a:gd name="adj" fmla="val 50000"/>
            </a:avLst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19472" y="4709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3.4/5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36792" y="5202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win rate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" y="5833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tap a row to drill into that model's per-prompt breakdown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18120" y="172821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65008" y="1627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overall score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065008" y="19110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across all 4 axes — with win rate shown alongside, since the two can diverge (a model might score well but rarely be the top pick).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7818120" y="309981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65008" y="29992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Medal-style ranks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065008" y="32826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silver / bronze at a glance — the visual language of a leaderboard people already know how to read.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7818120" y="4471416"/>
            <a:ext cx="100584" cy="100584"/>
          </a:xfrm>
          <a:prstGeom prst="ellipse">
            <a:avLst/>
          </a:prstGeom>
          <a:solidFill>
            <a:srgbClr val="B48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65008" y="43708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065008" y="46542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4th or 5th model, or a new prompt category, means one more row — the structure itself doesn't change.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B4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THIS FURTHER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7-prompt pilot to a standing benchmark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94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953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412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0871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0330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789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9248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8707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166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7625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7085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6544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6003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5462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4921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4380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3839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3298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2757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2216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675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1134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0593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0053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512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8971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8430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7889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348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6807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6266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5725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5184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4643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4102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3561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3020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92480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11939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1398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50857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70316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89775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09234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86935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481526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7611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870707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065298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259889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45448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649070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843661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038252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123284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427433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622024" y="13533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ADA"/>
          </a:solidFill>
          <a:ln w="9525">
            <a:solidFill>
              <a:srgbClr val="E8CE95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2960" y="2057400"/>
            <a:ext cx="438912" cy="438912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296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417320" y="2029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categories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822960" y="25877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apparel/handicrafts to electronics, groceries, and services — each as its own leaderboard view.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26364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EF"/>
          </a:solidFill>
          <a:ln w="9525">
            <a:solidFill>
              <a:srgbClr val="E8CE95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37960" y="2057400"/>
            <a:ext cx="438912" cy="438912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3796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132320" y="2029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annotator pool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6537960" y="25877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rating tasks through Josh Jobs, the same platform used for transcription QC, to reach hundreds of raters instead of 8–10.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ADA"/>
          </a:solidFill>
          <a:ln w="9525">
            <a:solidFill>
              <a:srgbClr val="E8CE95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417320" y="4270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model pulls</a:t>
            </a:r>
            <a:endParaRPr lang="en-US" sz="1450" dirty="0"/>
          </a:p>
        </p:txBody>
      </p:sp>
      <p:sp>
        <p:nvSpPr>
          <p:cNvPr id="76" name="Text 74"/>
          <p:cNvSpPr/>
          <p:nvPr/>
        </p:nvSpPr>
        <p:spPr>
          <a:xfrm>
            <a:off x="822960" y="482803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model APIs directly so new checkpoints get queued for evaluation the day they ship.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263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EF"/>
          </a:solidFill>
          <a:ln w="9525">
            <a:solidFill>
              <a:srgbClr val="E8CE95"/>
            </a:solidFill>
            <a:prstDash val="solid"/>
          </a:ln>
          <a:effectLst>
            <a:outerShdw blurRad="50800" dist="19050" dir="5400000" algn="bl" rotWithShape="0">
              <a:srgbClr val="5A1F2B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537960" y="4297680"/>
            <a:ext cx="438912" cy="438912"/>
          </a:xfrm>
          <a:prstGeom prst="ellipse">
            <a:avLst/>
          </a:prstGeom>
          <a:solidFill>
            <a:srgbClr val="7C2D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537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132320" y="4270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 trail</a:t>
            </a:r>
            <a:endParaRPr lang="en-US" sz="1450" dirty="0"/>
          </a:p>
        </p:txBody>
      </p:sp>
      <p:sp>
        <p:nvSpPr>
          <p:cNvPr id="81" name="Text 79"/>
          <p:cNvSpPr/>
          <p:nvPr/>
        </p:nvSpPr>
        <p:spPr>
          <a:xfrm>
            <a:off x="6537960" y="482803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config change and rating edit — needed once this feeds real model-selection decisions, not just a hiring exercise.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B4863A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8C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9859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9367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38874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08381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77889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47396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16904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86411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55918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5426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94933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64440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33948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03455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963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2470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11977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81485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50992" y="896112"/>
            <a:ext cx="45720" cy="45720"/>
          </a:xfrm>
          <a:prstGeom prst="diamond">
            <a:avLst/>
          </a:prstGeom>
          <a:solidFill>
            <a:srgbClr val="E8CE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12344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rating flow.</a:t>
            </a:r>
            <a:endParaRPr lang="en-US" sz="3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screens.</a:t>
            </a:r>
            <a:endParaRPr lang="en-US" sz="3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 that keeps working.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4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piloted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4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29260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4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530352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7589520" cy="0"/>
          </a:xfrm>
          <a:prstGeom prst="line">
            <a:avLst/>
          </a:prstGeom>
          <a:noFill/>
          <a:ln w="9525">
            <a:solidFill>
              <a:srgbClr val="B486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5669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C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no rebuild required — scales to hundreds of prompts and every model Josh Talks needs to test.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Microsoft Macintosh PowerPoint</Application>
  <PresentationFormat>Widescreen</PresentationFormat>
  <Paragraphs>131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Manjit Singh</cp:lastModifiedBy>
  <cp:revision>2</cp:revision>
  <dcterms:created xsi:type="dcterms:W3CDTF">2026-07-12T02:05:54Z</dcterms:created>
  <dcterms:modified xsi:type="dcterms:W3CDTF">2026-07-12T02:07:09Z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General</vt:lpwstr>
  </property>
</Properties>
</file>